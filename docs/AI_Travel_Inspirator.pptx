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02920"/>
            <a:ext cx="2377440" cy="384048"/>
          </a:xfrm>
          <a:prstGeom prst="roundRect">
            <a:avLst/>
          </a:prstGeom>
          <a:solidFill>
            <a:srgbClr val="12182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5669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Coforge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56A"/>
                </a:solidFill>
                <a:latin typeface="Calibri"/>
              </a:defRPr>
            </a:pPr>
            <a:r>
              <a:t>AI Travel Inspirator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AFAF8"/>
                </a:solidFill>
                <a:latin typeface="Calibri Light"/>
              </a:defRPr>
            </a:pPr>
            <a:r>
              <a:t>Emotion-First Global Travel Discovery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429000"/>
            <a:ext cx="2286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B0B8C8"/>
                </a:solidFill>
                <a:latin typeface="Calibri Light"/>
              </a:defRPr>
            </a:pPr>
            <a:r>
              <a:t>Helping undecided travelers discover destinations that match how they feel —</a:t>
            </a:r>
            <a:br/>
            <a:r>
              <a:t>bridging social inspiration and OTA booking with emotion, context, and explainable 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09160"/>
            <a:ext cx="1874519" cy="347472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Multi-Modal Emotion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4709160"/>
            <a:ext cx="1874519" cy="347472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3 Ps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4709160"/>
            <a:ext cx="1874519" cy="347472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Multi-Currency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709160"/>
            <a:ext cx="1874519" cy="347472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7A8296"/>
                </a:solidFill>
                <a:latin typeface="Calibri"/>
              </a:defRPr>
            </a:pPr>
            <a:r>
              <a:t>Presented by Team dot_thinker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Meet 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Team dot_thinker  ·  Coforge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234440"/>
            <a:ext cx="3657600" cy="8229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D4A56A"/>
                </a:solidFill>
                <a:latin typeface="Calibri"/>
              </a:defRPr>
            </a:pPr>
            <a:r>
              <a:t>dot_thinker</a:t>
            </a:r>
          </a:p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Coforge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3657600" cy="3063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3657600" cy="109728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0240" y="2697480"/>
            <a:ext cx="1005840" cy="1005840"/>
          </a:xfrm>
          <a:prstGeom prst="round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880360"/>
            <a:ext cx="1005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A0E1A"/>
                </a:solidFill>
                <a:latin typeface="Calibri"/>
              </a:defRPr>
            </a:pPr>
            <a:r>
              <a:t>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AFAF8"/>
                </a:solidFill>
                <a:latin typeface="Calibri"/>
              </a:defRPr>
            </a:pPr>
            <a:r>
              <a:t>Priyanka Singh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Team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Emp ID: 94872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D4A56A"/>
                </a:solidFill>
                <a:latin typeface="Calibri"/>
              </a:defRPr>
            </a:pPr>
            <a:r>
              <a:t>Priyanka.4.S@coforge.com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331720"/>
            <a:ext cx="3657600" cy="3063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2331720"/>
            <a:ext cx="3657600" cy="109728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697480"/>
            <a:ext cx="1005840" cy="1005840"/>
          </a:xfrm>
          <a:prstGeom prst="round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880360"/>
            <a:ext cx="1005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A0E1A"/>
                </a:solidFill>
                <a:latin typeface="Calibri"/>
              </a:defRPr>
            </a:pPr>
            <a:r>
              <a:t>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40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AFAF8"/>
                </a:solidFill>
                <a:latin typeface="Calibri"/>
              </a:defRPr>
            </a:pPr>
            <a:r>
              <a:t>Avinash Tripathi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2062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Team 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526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Emp ID: 76765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8463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4EC4B0"/>
                </a:solidFill>
                <a:latin typeface="Calibri"/>
              </a:defRPr>
            </a:pPr>
            <a:r>
              <a:t>avinash.tripathi@coforge.com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3212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4EC4B0"/>
                </a:solidFill>
                <a:latin typeface="Calibri"/>
              </a:defRPr>
            </a:pPr>
            <a:r>
              <a:t>Project: AI Travel Inspirator — Emotion-first global travel discovery powered by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87A6A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645920" cy="4572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AF8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0B8C8"/>
                </a:solidFill>
                <a:latin typeface="Calibri Light"/>
              </a:defRPr>
            </a:pPr>
            <a:r>
              <a:t>Market scale, problem, and underserved emotion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Quantitative opportunity · Gap ·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2057400" cy="11430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56A"/>
                </a:solidFill>
                <a:latin typeface="Calibri"/>
              </a:defRPr>
            </a:pPr>
            <a:r>
              <a:t>$622.6B→$1.44T</a:t>
            </a:r>
          </a:p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Online travel 2025→2034</a:t>
            </a:r>
            <a:br/>
            <a:r>
              <a:t>~9.75% CAGR (IMARC)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188720"/>
            <a:ext cx="2057400" cy="11430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280160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4B0"/>
                </a:solidFill>
                <a:latin typeface="Calibri"/>
              </a:defRPr>
            </a:pPr>
            <a:r>
              <a:t>70%+ / ~63%</a:t>
            </a:r>
          </a:p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Bookings online /</a:t>
            </a:r>
            <a:br/>
            <a:r>
              <a:t>mobile bookings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188720"/>
            <a:ext cx="2057400" cy="11430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280160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87A6A"/>
                </a:solidFill>
                <a:latin typeface="Calibri"/>
              </a:defRPr>
            </a:pPr>
            <a:r>
              <a:t>80%+</a:t>
            </a:r>
          </a:p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Travelers research</a:t>
            </a:r>
            <a:br/>
            <a:r>
              <a:t>via social media (2025)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188720"/>
            <a:ext cx="2057400" cy="11430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280160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7BB8E8"/>
                </a:solidFill>
                <a:latin typeface="Calibri"/>
              </a:defRPr>
            </a:pPr>
            <a:r>
              <a:t>APAC 31.8%</a:t>
            </a:r>
          </a:p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Share of online travel</a:t>
            </a:r>
            <a:br/>
            <a:r>
              <a:t>(IMARC)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78608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14600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OTA market ~USD 943B (2025, TBRC) / ~USD 561B OTA segment 2026 (Mordor — alternate estimate).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45536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81528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Huge booking market exists — but discovery/emotion layer between social inspiration and OTA checkout is underserved.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12464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48456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Top research sources: search 46%, reviews 36%, friends/family 35%, OTAs 28% — emotion rarely enters the loop.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79392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15384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Our agent: multi-modal emotion + 3 Ps context + explainable inspiration boards — global, multi-currency.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068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D4A56A"/>
                </a:solidFill>
                <a:latin typeface="Calibri"/>
              </a:defRPr>
            </a:pPr>
            <a:r>
              <a:t>Frame: Capture intent emotionally → enrich with Profile/Preferences/Policy → inspire before travelers hit price filters.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Global 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Industry estimates — online travel &amp; OTA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2057400" cy="23317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2057400" cy="9144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87451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56A"/>
                </a:solidFill>
                <a:latin typeface="Calibri"/>
              </a:defRPr>
            </a:pPr>
            <a:r>
              <a:t>Online Travel</a:t>
            </a:r>
          </a:p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USD 622.6B (2025)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→ USD 1.44T by 2034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~9.75% CAGR · IMARC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188720"/>
            <a:ext cx="2057400" cy="23317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1188720"/>
            <a:ext cx="2057400" cy="9144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371600"/>
            <a:ext cx="187451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EC4B0"/>
                </a:solidFill>
                <a:latin typeface="Calibri"/>
              </a:defRPr>
            </a:pPr>
            <a:r>
              <a:t>OTA Market</a:t>
            </a:r>
          </a:p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~USD 943B (2025)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TBRC estimate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Alt: ~USD 561B OTA '26 (Mordor)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188720"/>
            <a:ext cx="2057400" cy="23317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1188720"/>
            <a:ext cx="2057400" cy="9144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371600"/>
            <a:ext cx="187451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7A6A"/>
                </a:solidFill>
                <a:latin typeface="Calibri"/>
              </a:defRPr>
            </a:pPr>
            <a:r>
              <a:t>Channel Mix</a:t>
            </a:r>
          </a:p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70%+ online bookings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~63% mobile bookings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Discovery still fragmented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188720"/>
            <a:ext cx="2057400" cy="23317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188720"/>
            <a:ext cx="2057400" cy="9144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371600"/>
            <a:ext cx="187451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BB8E8"/>
                </a:solidFill>
                <a:latin typeface="Calibri"/>
              </a:defRPr>
            </a:pPr>
            <a:r>
              <a:t>Social Research</a:t>
            </a:r>
          </a:p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80%+ use social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to research destinations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Inspiration ≠ personalization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03320"/>
            <a:ext cx="832104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56A"/>
                </a:solidFill>
                <a:latin typeface="Calibri"/>
              </a:defRPr>
            </a:pPr>
            <a:r>
              <a:t>Asia-Pacific ~31.8% of online travel (IMARC) — emotions and aspirations cross every market border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89120"/>
            <a:ext cx="2057400" cy="777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8056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4B0"/>
                </a:solidFill>
                <a:latin typeface="Calibri"/>
              </a:defRPr>
            </a:pPr>
            <a:r>
              <a:t>46%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Search engines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389120"/>
            <a:ext cx="2057400" cy="777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48056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4B0"/>
                </a:solidFill>
                <a:latin typeface="Calibri"/>
              </a:defRPr>
            </a:pPr>
            <a:r>
              <a:t>36%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Review sites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4389120"/>
            <a:ext cx="2057400" cy="777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448056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4B0"/>
                </a:solidFill>
                <a:latin typeface="Calibri"/>
              </a:defRPr>
            </a:pPr>
            <a:r>
              <a:t>35%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Friends / family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4389120"/>
            <a:ext cx="2057400" cy="777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48056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4B0"/>
                </a:solidFill>
                <a:latin typeface="Calibri"/>
              </a:defRPr>
            </a:pPr>
            <a:r>
              <a:t>28%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OTAs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4924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4EC4B0"/>
                </a:solidFill>
                <a:latin typeface="Calibri"/>
              </a:defRPr>
            </a:pPr>
            <a:r>
              <a:t>Opportunity wedge: social inspires · OTAs transact · nobody owns emotion-aware, policy-aware discovery.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Why travelers struggle — globally, not just one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73152" cy="457200"/>
          </a:xfrm>
          <a:prstGeom prst="rect">
            <a:avLst/>
          </a:prstGeom>
          <a:solidFill>
            <a:srgbClr val="E87A6A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6A"/>
                </a:solidFill>
                <a:latin typeface="Calibri"/>
              </a:defRPr>
            </a:pPr>
            <a:r>
              <a:t>Decision Paralysis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Aspirational travelers drown in options with no personal, emotional guide.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64792"/>
            <a:ext cx="73152" cy="457200"/>
          </a:xfrm>
          <a:prstGeom prst="rect">
            <a:avLst/>
          </a:prstGeom>
          <a:solidFill>
            <a:srgbClr val="D4A56A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56A"/>
                </a:solidFill>
                <a:latin typeface="Calibri"/>
              </a:defRPr>
            </a:pPr>
            <a:r>
              <a:t>Popularity Bias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Trending destinations ≠ individual mood, culture, or travel personality.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95144"/>
            <a:ext cx="73152" cy="457200"/>
          </a:xfrm>
          <a:prstGeom prst="rect">
            <a:avLst/>
          </a:prstGeom>
          <a:solidFill>
            <a:srgbClr val="4EC4B0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95144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EC4B0"/>
                </a:solidFill>
                <a:latin typeface="Calibri"/>
              </a:defRPr>
            </a:pPr>
            <a:r>
              <a:t>Currency &amp; Cost Ambiguity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Budgets span USD / EUR / GBP / INR / AED / JPY / AUD — tools rarely unify guidance.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25496"/>
            <a:ext cx="73152" cy="457200"/>
          </a:xfrm>
          <a:prstGeom prst="rect">
            <a:avLst/>
          </a:prstGeom>
          <a:solidFill>
            <a:srgbClr val="7BB8E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25496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BB8E8"/>
                </a:solidFill>
                <a:latin typeface="Calibri"/>
              </a:defRPr>
            </a:pPr>
            <a:r>
              <a:t>Emotion Ignored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OTAs optimise price &amp; availability; social inspires without cost/policy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55848"/>
            <a:ext cx="73152" cy="457200"/>
          </a:xfrm>
          <a:prstGeom prst="rect">
            <a:avLst/>
          </a:prstGeom>
          <a:solidFill>
            <a:srgbClr val="E87A6A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558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6A"/>
                </a:solidFill>
                <a:latin typeface="Calibri"/>
              </a:defRPr>
            </a:pPr>
            <a:r>
              <a:t>Context Gap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 Profile · Preferences · Policy (3 Ps) layer between inspiration and booking.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87A6A"/>
                </a:solidFill>
                <a:latin typeface="Calibri"/>
              </a:defRPr>
            </a:pPr>
            <a:r>
              <a:t>Insight: Travelers need a recommendation partner between Instagram and Booking.com — not another top-10 list.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4EC4B0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645920" cy="457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AF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0B8C8"/>
                </a:solidFill>
                <a:latin typeface="Calibri Light"/>
              </a:defRPr>
            </a:pPr>
            <a:r>
              <a:t>Emotion-first agent with 3 Ps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Solution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Emotion + 3 Ps context + explainable inspiration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8138160" cy="4572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4A56A"/>
                </a:solidFill>
                <a:latin typeface="Calibri"/>
              </a:defRPr>
            </a:pPr>
            <a:r>
              <a:t>AI Travel Inspirator — Multi-modal, context-aware travel discovery agent (global)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1874519" cy="15544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56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AFAF8"/>
                </a:solidFill>
                <a:latin typeface="Calibri"/>
              </a:defRPr>
            </a:pPr>
            <a:r>
              <a:t>Sense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Mood chips · selfie</a:t>
            </a:r>
            <a:br/>
            <a:r>
              <a:t>voice · text sentiment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606040"/>
            <a:ext cx="320040" cy="0"/>
          </a:xfrm>
          <a:prstGeom prst="line">
            <a:avLst/>
          </a:prstGeom>
          <a:ln w="22225">
            <a:solidFill>
              <a:srgbClr val="D4A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0320" y="1828800"/>
            <a:ext cx="1874519" cy="15544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920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4B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28600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AFAF8"/>
                </a:solidFill>
                <a:latin typeface="Calibri"/>
              </a:defRPr>
            </a:pPr>
            <a:r>
              <a:t>Context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Profile · Preferences</a:t>
            </a:r>
            <a:br/>
            <a:r>
              <a:t>Policy (3 Ps)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2606040"/>
            <a:ext cx="320040" cy="0"/>
          </a:xfrm>
          <a:prstGeom prst="line">
            <a:avLst/>
          </a:prstGeom>
          <a:ln w="22225">
            <a:solidFill>
              <a:srgbClr val="4EC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617720" y="1828800"/>
            <a:ext cx="1874519" cy="15544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920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7A6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28600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AFAF8"/>
                </a:solidFill>
                <a:latin typeface="Calibri"/>
              </a:defRPr>
            </a:pPr>
            <a:r>
              <a:t>Reason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TravelAgent engines</a:t>
            </a:r>
            <a:br/>
            <a:r>
              <a:t>+ LLM (Gemini)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37960" y="2606040"/>
            <a:ext cx="320040" cy="0"/>
          </a:xfrm>
          <a:prstGeom prst="line">
            <a:avLst/>
          </a:prstGeom>
          <a:ln w="22225">
            <a:solidFill>
              <a:srgbClr val="E87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75120" y="1828800"/>
            <a:ext cx="1874519" cy="15544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920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BB8E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28600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AFAF8"/>
                </a:solidFill>
                <a:latin typeface="Calibri"/>
              </a:defRPr>
            </a:pPr>
            <a:r>
              <a:t>Inspire</a:t>
            </a:r>
          </a:p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Boards · scores</a:t>
            </a:r>
            <a:br/>
            <a:r>
              <a:t>multi-currency costs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21608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57600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Design principle: Emotions first, logistics second — every recommendation explains emotional fit.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88536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24528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Context beyond single-shot LLM: 3 Ps enrich prompts; RAG + social graph on the roadmap.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55464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91456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Global by default: multi-currency cost guidance (USD · EUR · GBP · INR · AED · JPY · AUD).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Agentic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Emotion Layer · Context (3 Ps) · RAG · TravelAgent ·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169164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Emotion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325880"/>
            <a:ext cx="6355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Manual mood (DEMO) · selfie CV · voice emotion · text sentiment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65960"/>
            <a:ext cx="169164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EC4B0"/>
                </a:solidFill>
                <a:latin typeface="Calibri"/>
              </a:defRPr>
            </a:pPr>
            <a:r>
              <a:t>Context — 3 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03120"/>
            <a:ext cx="6355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Profile · Preferences · Policy  (+ social/friend graph — FUTURE)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169164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87A6A"/>
                </a:solidFill>
                <a:latin typeface="Calibri"/>
              </a:defRPr>
            </a:pPr>
            <a:r>
              <a:t>RAG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880360"/>
            <a:ext cx="6355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Destination KB · reviews · culture/seasonality — FUTURE retrieve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69164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7BB8E8"/>
                </a:solidFill>
                <a:latin typeface="Calibri"/>
              </a:defRPr>
            </a:pPr>
            <a:r>
              <a:t>TravelAgent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657600"/>
            <a:ext cx="6355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Emotional Engine · Destination Matcher · Inspiration Cluster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97680"/>
            <a:ext cx="169164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BC49A"/>
                </a:solidFill>
                <a:latin typeface="Calibri"/>
              </a:defRPr>
            </a:pPr>
            <a:r>
              <a:t>LLM +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434840"/>
            <a:ext cx="6355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Gemini 2.5 (+ mock) → concepts, boards, multi-currency costs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4EC4B0"/>
                </a:solidFill>
                <a:latin typeface="Calibri"/>
              </a:defRPr>
            </a:pPr>
            <a:r>
              <a:t>3 Ps enrich context beyond single-shot prompting — personalisation that respects budget, style, and constraints.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3 Ps Context + Multi-Modal Emotion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What enriches the agent beyond a bare LLM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2651760" cy="23317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2651760" cy="9144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56A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Identity &amp; travel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Personality archetype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Party 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Accessibility needs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188720"/>
            <a:ext cx="2651760" cy="23317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88720"/>
            <a:ext cx="2651760" cy="9144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371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EC4B0"/>
                </a:solidFill>
                <a:latin typeface="Calibri"/>
              </a:defRPr>
            </a:pPr>
            <a:r>
              <a:t>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783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Travel style &amp; 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Preferred currencies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14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Climate /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880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Must-haves &amp; avoid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188720"/>
            <a:ext cx="2651760" cy="23317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188720"/>
            <a:ext cx="2651760" cy="9144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371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87A6A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783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Hard budget caps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Date / duration windows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514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Visa /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880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Corporate / family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749039"/>
            <a:ext cx="205740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4048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AFAF8"/>
                </a:solidFill>
                <a:latin typeface="Calibri"/>
              </a:defRPr>
            </a:pPr>
            <a:r>
              <a:t>Mood chips</a:t>
            </a:r>
          </a:p>
          <a:p>
            <a:pPr algn="ctr">
              <a:defRPr sz="1000" b="1">
                <a:solidFill>
                  <a:srgbClr val="6BC49A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3749039"/>
            <a:ext cx="205740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84048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AFAF8"/>
                </a:solidFill>
                <a:latin typeface="Calibri"/>
              </a:defRPr>
            </a:pPr>
            <a:r>
              <a:t>Text sentiment</a:t>
            </a:r>
          </a:p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3749039"/>
            <a:ext cx="205740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84048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AFAF8"/>
                </a:solidFill>
                <a:latin typeface="Calibri"/>
              </a:defRPr>
            </a:pPr>
            <a:r>
              <a:t>Selfie expression</a:t>
            </a:r>
          </a:p>
          <a:p>
            <a:pPr algn="ctr">
              <a:defRPr sz="1000" b="1">
                <a:solidFill>
                  <a:srgbClr val="7BB8E8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749039"/>
            <a:ext cx="205740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84048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AFAF8"/>
                </a:solidFill>
                <a:latin typeface="Calibri"/>
              </a:defRPr>
            </a:pPr>
            <a:r>
              <a:t>Voice emotion</a:t>
            </a:r>
          </a:p>
          <a:p>
            <a:pPr algn="ctr">
              <a:defRPr sz="1000" b="1">
                <a:solidFill>
                  <a:srgbClr val="E87A6A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4632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98348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D4A56A"/>
                </a:solidFill>
                <a:latin typeface="Calibri"/>
              </a:defRPr>
            </a:pPr>
            <a:r>
              <a:t>Emotion is not only chips — roadmap includes CV selfie, voice ML, and sentiment over free-text intent.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66928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Future context: RAG over destination knowledge + social/friend-circle signals feeding the same 3 Ps layer.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Demo In Scope vs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Clear boundaries for judges — no ambiguity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4114800" cy="41148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C49A"/>
                </a:solidFill>
                <a:latin typeface="Calibri"/>
              </a:defRPr>
            </a:pPr>
            <a:r>
              <a:t>DEMO MVP — 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✓  Manual mood chips + free-text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2199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✓  3 Ps lite from form (Profile · Prefs · Policy)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60903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✓  TravelAgent: Emotional · Matcher ·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99815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✓  Gemini 2.5 + automatic mock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38727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✓  Concepts · inspiration boards · match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776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✓  Multi-currency cost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1655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✓  FastAPI + Web UI live end-to-end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188720"/>
            <a:ext cx="4114800" cy="41148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6A"/>
                </a:solidFill>
                <a:latin typeface="Calibri"/>
              </a:defRPr>
            </a:pPr>
            <a:r>
              <a:t>FUTURE /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783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→  Selfie facial expression (real CV/ML)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22199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→  Voice emotion 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660903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→  RAG over destination knowledge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099815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→  Social / friend-circle graph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538727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→  Booking API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9776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→  Interactive maps &amp; AI imagery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41655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→  Accounts, saved boards, mobile PWA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7A8296"/>
                </a:solidFill>
                <a:latin typeface="Calibri"/>
              </a:defRPr>
            </a:pPr>
            <a:r>
              <a:t>Source diagrams: docs/architecture/demo_vs_future.mmd · agent_architecture.mmd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Core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Four pillars of the AI Travel Inspirator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874519" cy="19659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691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56A"/>
                </a:solidFill>
                <a:latin typeface="Calibri"/>
              </a:defRPr>
            </a:pPr>
            <a:r>
              <a:t>Mood &amp; Multi-Modal</a:t>
            </a:r>
            <a:br/>
            <a:r>
              <a:t>Emotion</a:t>
            </a:r>
          </a:p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Chips today; selfie/voice/sentiment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80160"/>
            <a:ext cx="1874519" cy="19659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417320"/>
            <a:ext cx="1691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EC4B0"/>
                </a:solidFill>
                <a:latin typeface="Calibri"/>
              </a:defRPr>
            </a:pPr>
            <a:r>
              <a:t>3 Ps Context</a:t>
            </a:r>
            <a:br/>
            <a:r>
              <a:t>Engine</a:t>
            </a:r>
          </a:p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Profile · Preferences · Policy enrichment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280160"/>
            <a:ext cx="1874519" cy="19659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17320"/>
            <a:ext cx="1691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7A6A"/>
                </a:solidFill>
                <a:latin typeface="Calibri"/>
              </a:defRPr>
            </a:pPr>
            <a:r>
              <a:t>Explainable</a:t>
            </a:r>
            <a:br/>
            <a:r>
              <a:t>Inspiration</a:t>
            </a:r>
          </a:p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Match scores + why-it-fits reasoning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280160"/>
            <a:ext cx="1874519" cy="19659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417320"/>
            <a:ext cx="1691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BB8E8"/>
                </a:solidFill>
                <a:latin typeface="Calibri"/>
              </a:defRPr>
            </a:pPr>
            <a:r>
              <a:t>Global Multi-</a:t>
            </a:r>
            <a:br/>
            <a:r>
              <a:t>Currency</a:t>
            </a:r>
          </a:p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USD · EUR · GBP · INR · AED · JPY · AUD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84448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AFAF8"/>
                </a:solidFill>
                <a:latin typeface="Calibri"/>
              </a:defRPr>
            </a:pPr>
            <a:r>
              <a:t>Captures emotion and intent, then overlays 3 Ps so recommendations respect real constraints.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51376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87368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AFAF8"/>
                </a:solidFill>
                <a:latin typeface="Calibri"/>
              </a:defRPr>
            </a:pPr>
            <a:r>
              <a:t>Generates curated travel concepts and visual inspiration boards — not raw search listings.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18304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54296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AFAF8"/>
                </a:solidFill>
                <a:latin typeface="Calibri"/>
              </a:defRPr>
            </a:pPr>
            <a:r>
              <a:t>Honest trade-offs on cost (multi-currency), duration, and emotional fit for each destination.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D4A56A"/>
                </a:solidFill>
                <a:latin typeface="Calibri Light"/>
              </a:defRPr>
            </a:pPr>
            <a:r>
              <a:t>02b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645920" cy="457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AF8"/>
                </a:solidFill>
                <a:latin typeface="Calibri"/>
              </a:defRPr>
            </a:pPr>
            <a:r>
              <a:t>Market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0B8C8"/>
                </a:solidFill>
                <a:latin typeface="Calibri Light"/>
              </a:defRPr>
            </a:pPr>
            <a:r>
              <a:t>Named competitors and our wedge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Named players — research-backed positioning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832104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Airbnb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9844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Emotion / discovery-led shopping — Tiny Homes, Wish Lists, belonging narrative; AI for experience, not only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901952"/>
            <a:ext cx="832104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EC4B0"/>
                </a:solidFill>
                <a:latin typeface="Calibri"/>
              </a:defRPr>
            </a:pPr>
            <a:r>
              <a:t>Booking.com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011680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Functional utility — price, availability, conversion; AI for search efficiency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615184"/>
            <a:ext cx="832104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52344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7A6A"/>
                </a:solidFill>
                <a:latin typeface="Calibri"/>
              </a:defRPr>
            </a:pPr>
            <a:r>
              <a:t>Expedia / Hotels.com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24912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AI agents &amp; connected trip orchestration across inventory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328416"/>
            <a:ext cx="832104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65576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BB8E8"/>
                </a:solidFill>
                <a:latin typeface="Calibri"/>
              </a:defRPr>
            </a:pPr>
            <a:r>
              <a:t>Google Travel / Flights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38144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Destination research + powerful price tools — limited emotion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041648"/>
            <a:ext cx="832104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788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BC49A"/>
                </a:solidFill>
                <a:latin typeface="Calibri"/>
              </a:defRPr>
            </a:pPr>
            <a:r>
              <a:t>MakeMyTrip Myra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51376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GenAI trip assistant (India example) — planning help, not emotion-first boards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754880"/>
            <a:ext cx="832104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A8296"/>
                </a:solidFill>
                <a:latin typeface="Calibri"/>
              </a:defRPr>
            </a:pPr>
            <a:r>
              <a:t>Instagram / TikTok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6460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Massive inspiration without personalization, cost, or policy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7784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1500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4EC4B0"/>
                </a:solidFill>
                <a:latin typeface="Calibri"/>
              </a:defRPr>
            </a:pPr>
            <a:r>
              <a:t>Wedge: emotion + 3 Ps + multi-modal signals + explainable boards — BETWEEN social inspiration and OTA booking.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Competitive 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How we occupy the unmet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1737360" cy="3657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0B8C8"/>
                </a:solidFill>
                <a:latin typeface="Calibri"/>
              </a:defRPr>
            </a:pPr>
            <a:r>
              <a:t>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188720"/>
            <a:ext cx="3017520" cy="3657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0B8C8"/>
                </a:solidFill>
                <a:latin typeface="Calibri"/>
              </a:defRPr>
            </a:pPr>
            <a:r>
              <a:t>Typical Players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188720"/>
            <a:ext cx="3474720" cy="3657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AI Travel Inspirator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45920"/>
            <a:ext cx="173736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0B8C8"/>
                </a:solidFill>
                <a:latin typeface="Calibri"/>
              </a:defRPr>
            </a:pPr>
            <a:r>
              <a:t>Primary lens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645920"/>
            <a:ext cx="301752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7A8296"/>
                </a:solidFill>
                <a:latin typeface="Calibri"/>
              </a:defRPr>
            </a:pPr>
            <a:r>
              <a:t>Price / inventory / feeds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645920"/>
            <a:ext cx="347472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Emotion + 3 Ps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94560"/>
            <a:ext cx="173736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0B8C8"/>
                </a:solidFill>
                <a:latin typeface="Calibri"/>
              </a:defRPr>
            </a:pPr>
            <a:r>
              <a:t>Inspiration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194560"/>
            <a:ext cx="301752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7A8296"/>
                </a:solidFill>
                <a:latin typeface="Calibri"/>
              </a:defRPr>
            </a:pPr>
            <a:r>
              <a:t>Social virality or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194560"/>
            <a:ext cx="347472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Explainable mood 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743200"/>
            <a:ext cx="173736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0B8C8"/>
                </a:solidFill>
                <a:latin typeface="Calibri"/>
              </a:defRPr>
            </a:pPr>
            <a:r>
              <a:t>Personalisation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2743200"/>
            <a:ext cx="301752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7A8296"/>
                </a:solidFill>
                <a:latin typeface="Calibri"/>
              </a:defRPr>
            </a:pPr>
            <a:r>
              <a:t>Generic profiles / filters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743200"/>
            <a:ext cx="347472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Multi-modal + policy-aware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91840"/>
            <a:ext cx="173736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0B8C8"/>
                </a:solidFill>
                <a:latin typeface="Calibri"/>
              </a:defRPr>
            </a:pPr>
            <a:r>
              <a:t>Currency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3291840"/>
            <a:ext cx="301752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7A8296"/>
                </a:solidFill>
                <a:latin typeface="Calibri"/>
              </a:defRPr>
            </a:pPr>
            <a:r>
              <a:t>Local or single-market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3291840"/>
            <a:ext cx="347472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USD·EUR·GBP·INR·AED·JPY·AUD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840480"/>
            <a:ext cx="173736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0B8C8"/>
                </a:solidFill>
                <a:latin typeface="Calibri"/>
              </a:defRPr>
            </a:pPr>
            <a:r>
              <a:t>AI role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840480"/>
            <a:ext cx="301752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7A8296"/>
                </a:solidFill>
                <a:latin typeface="Calibri"/>
              </a:defRPr>
            </a:pPr>
            <a:r>
              <a:t>Search, agents, conversion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840480"/>
            <a:ext cx="3474720" cy="5029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Emotional fit + reasoning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389120"/>
            <a:ext cx="173736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0B8C8"/>
                </a:solidFill>
                <a:latin typeface="Calibri"/>
              </a:defRPr>
            </a:pPr>
            <a:r>
              <a:t>Gap filled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389120"/>
            <a:ext cx="301752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7A8296"/>
                </a:solidFill>
                <a:latin typeface="Calibri"/>
              </a:defRPr>
            </a:pPr>
            <a:r>
              <a:t>Inspire XOR book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4389120"/>
            <a:ext cx="3474720" cy="502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Bridge inspire → decide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492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D4A56A"/>
                </a:solidFill>
                <a:latin typeface="Calibri"/>
              </a:defRPr>
            </a:pPr>
            <a:r>
              <a:t>We do not compete on more destinations — we compete on better emotional + contextual fit.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6BC49A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645920" cy="4572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AF8"/>
                </a:solidFill>
                <a:latin typeface="Calibri"/>
              </a:defRPr>
            </a:pPr>
            <a:r>
              <a:t>Hackathon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0B8C8"/>
                </a:solidFill>
                <a:latin typeface="Calibri Light"/>
              </a:defRPr>
            </a:pPr>
            <a:r>
              <a:t>Scope and deliverables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6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Hackathon MVP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Demo in scope vs deferred — aligned to agent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2697480" cy="502920"/>
          </a:xfrm>
          <a:prstGeom prst="roundRect">
            <a:avLst/>
          </a:prstGeom>
          <a:solidFill>
            <a:srgbClr val="6BC49A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E1A"/>
                </a:solidFill>
                <a:latin typeface="Calibri"/>
              </a:defRPr>
            </a:pPr>
            <a:r>
              <a:t>IN SCOPE (DEMO)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7A8296"/>
                </a:solidFill>
                <a:latin typeface="Calibri"/>
              </a:defRPr>
            </a:pPr>
            <a:r>
              <a:t>Must deliver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11680"/>
            <a:ext cx="2697480" cy="33832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Mood chips + intent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3 Ps lite from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3-engine TravelAgent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Gemini + mock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7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Concepts + 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Multi-currency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FastAPI + Web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Live E2E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1188720"/>
            <a:ext cx="2697480" cy="502920"/>
          </a:xfrm>
          <a:prstGeom prst="roundRect">
            <a:avLst/>
          </a:prstGeom>
          <a:solidFill>
            <a:srgbClr val="D4A56A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1252728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E1A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1737360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7A8296"/>
                </a:solidFill>
                <a:latin typeface="Calibri"/>
              </a:defRPr>
            </a:pPr>
            <a:r>
              <a:t>Demo-ready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011680"/>
            <a:ext cx="2697480" cy="33832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21488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Text sentiment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5146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Match scoring 0–100%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880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Sample itineraries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24612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Colour mood palettes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61187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Multi-provider LLM hooks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188720"/>
            <a:ext cx="2697480" cy="502920"/>
          </a:xfrm>
          <a:prstGeom prst="roundRect">
            <a:avLst/>
          </a:prstGeom>
          <a:solidFill>
            <a:srgbClr val="E87A6A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252728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E1A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737360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7A8296"/>
                </a:solidFill>
                <a:latin typeface="Calibri"/>
              </a:defRPr>
            </a:pPr>
            <a:r>
              <a:t>Post-hackathon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2011680"/>
            <a:ext cx="2697480" cy="33832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1488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Selfie CV / voice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5146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RAG destination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880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Social graph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24612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Booking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61187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Maps &amp; AI imagery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97763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AFAF8"/>
                </a:solidFill>
                <a:latin typeface="Calibri"/>
              </a:defRPr>
            </a:pPr>
            <a:r>
              <a:t>•  Accounts / mobile PWA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8640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62356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BC49A"/>
                </a:solidFill>
                <a:latin typeface="Calibri"/>
              </a:defRPr>
            </a:pPr>
            <a:r>
              <a:t>MVP Focus: Prove emotion-first discovery with 3 Ps context — mood to actionable inspiration in &lt; 30 seconds.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MVP SCOPE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MVP Deliverables &amp; Success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Concrete outputs judges can 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388620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886200" cy="9144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3520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56A"/>
                </a:solidFill>
                <a:latin typeface="Calibri"/>
              </a:defRPr>
            </a:pPr>
            <a:r>
              <a:t>Web Application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Mood picker, multi-currency form, results renderer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34440"/>
            <a:ext cx="388620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234440"/>
            <a:ext cx="3886200" cy="9144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463040"/>
            <a:ext cx="3520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EC4B0"/>
                </a:solidFill>
                <a:latin typeface="Calibri"/>
              </a:defRPr>
            </a:pPr>
            <a:r>
              <a:t>AI Agent Backend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TravelAgent, 3 engines, Gemini + mock, 3 Ps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388620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3886200" cy="9144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3520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6A"/>
                </a:solidFill>
                <a:latin typeface="Calibri"/>
              </a:defRPr>
            </a:pPr>
            <a:r>
              <a:t>REST API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POST /api/inspire — typed JSON contract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246120"/>
            <a:ext cx="388620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246120"/>
            <a:ext cx="3886200" cy="9144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474720"/>
            <a:ext cx="3520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B8E8"/>
                </a:solidFill>
                <a:latin typeface="Calibri"/>
              </a:defRPr>
            </a:pPr>
            <a:r>
              <a:t>Demo Flow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Emotion → context → concepts → boards → costs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74920"/>
            <a:ext cx="8138160" cy="8686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EC4B0"/>
                </a:solidFill>
                <a:latin typeface="Calibri"/>
              </a:defRPr>
            </a:pPr>
            <a:r>
              <a:t>Success Criteria</a:t>
            </a:r>
          </a:p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Live demo without errors  ·  Personalised to emotion/budget/currency  ·  Agentic architecture clear  ·  README + .env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MVP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7BB8E8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645920" cy="4572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AF8"/>
                </a:solidFill>
                <a:latin typeface="Calibri"/>
              </a:defRPr>
            </a:pPr>
            <a:r>
              <a:t>Architecture &amp;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0B8C8"/>
                </a:solidFill>
                <a:latin typeface="Calibri Light"/>
              </a:defRPr>
            </a:pPr>
            <a:r>
              <a:t>Technical deep dive and live demonstration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User Inputs &amp;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Emotion + 3 Ps intake (global traveller)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813816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Emotion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371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Mood chips (DEMO) · free-text intent · sentiment · selfie/voice (FUTURE)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65960"/>
            <a:ext cx="813816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EC4B0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103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Party type, travel personality signals, optional departure 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97480"/>
            <a:ext cx="813816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34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7A6A"/>
                </a:solidFill>
                <a:latin typeface="Calibri"/>
              </a:defRPr>
            </a:pPr>
            <a:r>
              <a:t>Preferences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834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Travel style · climate · pace · preferred currency display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813816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BB8E8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566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Budget band · duration · hard constraints (visa, accessibility)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0520"/>
            <a:ext cx="813816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BC49A"/>
                </a:solidFill>
                <a:latin typeface="Calibri"/>
              </a:defRPr>
            </a:pPr>
            <a:r>
              <a:t>Currencies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97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USD · EUR · GBP · INR · AED · JPY · AUD — emotions cross borders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TravelAgent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Three-module recommendation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8138160" cy="777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56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3716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FAF8"/>
                </a:solidFill>
                <a:latin typeface="Calibri"/>
              </a:defRPr>
            </a:pPr>
            <a:r>
              <a:t>Emotional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4173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Emotion + intent + 3 Ps → emotional profile, personality, priorities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48840"/>
            <a:ext cx="8138160" cy="777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4B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860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FAF8"/>
                </a:solidFill>
                <a:latin typeface="Calibri"/>
              </a:defRPr>
            </a:pPr>
            <a:r>
              <a:t>Destination Matcher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317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Scores 0–100 on personality, budget/policy, emotional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63240"/>
            <a:ext cx="8138160" cy="7772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7A6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004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FAF8"/>
                </a:solidFill>
                <a:latin typeface="Calibri"/>
              </a:defRPr>
            </a:pPr>
            <a:r>
              <a:t>Inspiration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2461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Thematic mood-board clusters with palettes &amp; activities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78808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LLM reasoning with Pydantic-validated JSON — reliable, typed API responses.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54296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90288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Gemini 2.5 primary with automatic mock fallback for demo resilience.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29783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65775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RAG retrieval plugs in ahead of engines (FUTURE) without changing UI contracts.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Generated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What the traveller receives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3977639" cy="44348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977639" cy="109728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56A"/>
                </a:solidFill>
                <a:latin typeface="Calibri"/>
              </a:defRPr>
            </a:pPr>
            <a:r>
              <a:t>Curated Travel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74519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2–3 themed trip concepts with taglines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58568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Destinations with 0–100% match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42615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Emotional fit rationale per destination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26663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Multi-currency cost estimates &amp;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10711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Sample itineraries &amp; budget breakdown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1234440"/>
            <a:ext cx="3977639" cy="44348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234440"/>
            <a:ext cx="3977639" cy="109728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41732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EC4B0"/>
                </a:solidFill>
                <a:latin typeface="Calibri"/>
              </a:defRPr>
            </a:pPr>
            <a:r>
              <a:t>Personalised Inspiration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874519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Emotional summary &amp; tailored quote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258568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2–3 thematic mood-board clusters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642615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Visual mood descriptions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26663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Colour palettes (hex codes)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410711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•  Grouped destinations &amp; activities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Agentic stack — mirrors docs/architecture/agent_architecture.mmd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1234440" cy="5943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EC4B0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1143000"/>
            <a:ext cx="344728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Web UI / Mood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143000"/>
            <a:ext cx="344728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Multi-modal Capture (selfie · voice · text)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65960"/>
            <a:ext cx="1234440" cy="5943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0312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1965960"/>
            <a:ext cx="696772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FastAPI  ·  POST /inspire  ·  /health · /diagnose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1234440" cy="5943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8036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87A6A"/>
                </a:solidFill>
                <a:latin typeface="Calibri"/>
              </a:defRPr>
            </a:pPr>
            <a:r>
              <a:t>Emotion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2743200"/>
            <a:ext cx="227380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Mood chips DEMO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4320" y="2743200"/>
            <a:ext cx="227380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Sentiment PARTIAL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1280" y="2743200"/>
            <a:ext cx="227380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Selfie/Voice FUTURE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520440"/>
            <a:ext cx="1234440" cy="5943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6576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EC4B0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37360" y="3520440"/>
            <a:ext cx="168706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7580" y="3520440"/>
            <a:ext cx="168706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Preferences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3520440"/>
            <a:ext cx="168706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18020" y="3520440"/>
            <a:ext cx="168706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Social graph FUTURE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297680"/>
            <a:ext cx="1234440" cy="5943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43484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7A8296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37360" y="4297680"/>
            <a:ext cx="696772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Destination KB · Reviews · Culture — FUTURE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983480"/>
            <a:ext cx="1234440" cy="5943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12064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7BB8E8"/>
                </a:solidFill>
                <a:latin typeface="Calibri"/>
              </a:defRPr>
            </a:pPr>
            <a:r>
              <a:t>Agent→LLM→Out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4983480"/>
            <a:ext cx="227380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3 Engines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84320" y="4983480"/>
            <a:ext cx="227380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Gemini 2.5 + Mock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1280" y="4983480"/>
            <a:ext cx="2273808" cy="5943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AFAF8"/>
                </a:solidFill>
                <a:latin typeface="Calibri"/>
              </a:defRPr>
            </a:pPr>
            <a:r>
              <a:t>Concepts · Boards · Multi-currency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7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Architecture Diagram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Mermaid definitions live in docs/architecture/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8412480" cy="448056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8138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flowchart TB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subgraph UI["Presentation Layer"]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WEB["Web UI / Mood Form"]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MULTI["Multi-modal Capture&lt;br/&gt;Selfie · Voice · Text"]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end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subgraph API["API Layer — FastAPI"]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INSPIRE["POST /api/inspire"]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HEALTH["GET /health · /diagnose"]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end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subgraph EMOTION["Emotion Layer"]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MANUAL["Manual Mood Chips&lt;br/&gt;DEMO"]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SELFIE["Selfie Facial Expression&lt;br/&gt;FUTURE / IN-SCOPE"]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VOICE["Voice Emotion&lt;br/&gt;FUTURE / IN-SCOPE"]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SENT["Text Sentiment&lt;br/&gt;PARTIAL DEMO"]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end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subgraph CONTEXT["Context Layer — 3 Ps"]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PROFILE["Profile&lt;br/&gt;Traveller identity &amp; history"]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PREFS["Preferences&lt;br/&gt;Style · currency · constraints"]</a:t>
            </a:r>
          </a:p>
          <a:p>
            <a:pPr>
              <a:defRPr sz="900" b="0">
                <a:solidFill>
                  <a:srgbClr val="B0B8C8"/>
                </a:solidFill>
                <a:latin typeface="Consolas"/>
              </a:defRPr>
            </a:pPr>
            <a:r>
              <a:t>        POLICY["Policy&lt;br/&gt;Budget · dates · compliance"]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7A8296"/>
                </a:solidFill>
                <a:latin typeface="Calibri"/>
              </a:defRPr>
            </a:pPr>
            <a:r>
              <a:t>Files: agent_architecture.mmd · demo_vs_future.mmd  |  Render: npx @mermaid-js/mermaid-cli@11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End-to-end request lifecycle with 3 Ps + emotion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325880"/>
            <a:ext cx="128016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User</a:t>
            </a:r>
            <a:br/>
            <a:r>
              <a:t>Emotion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19" y="1737360"/>
            <a:ext cx="228600" cy="0"/>
          </a:xfrm>
          <a:prstGeom prst="line">
            <a:avLst/>
          </a:prstGeom>
          <a:ln w="22225">
            <a:solidFill>
              <a:srgbClr val="4EC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37360" y="1325880"/>
            <a:ext cx="128016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EC4B0"/>
                </a:solidFill>
                <a:latin typeface="Calibri"/>
              </a:defRPr>
            </a:pPr>
            <a:r>
              <a:t>Context</a:t>
            </a:r>
            <a:br/>
            <a:r>
              <a:t>3 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39" y="1737360"/>
            <a:ext cx="228600" cy="0"/>
          </a:xfrm>
          <a:prstGeom prst="line">
            <a:avLst/>
          </a:prstGeom>
          <a:ln w="22225">
            <a:solidFill>
              <a:srgbClr val="4EC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54680" y="1325880"/>
            <a:ext cx="128016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A6A"/>
                </a:solidFill>
                <a:latin typeface="Calibri"/>
              </a:defRPr>
            </a:pPr>
            <a:r>
              <a:t>API</a:t>
            </a:r>
            <a:br/>
            <a: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1737360"/>
            <a:ext cx="228600" cy="0"/>
          </a:xfrm>
          <a:prstGeom prst="line">
            <a:avLst/>
          </a:prstGeom>
          <a:ln w="22225">
            <a:solidFill>
              <a:srgbClr val="4EC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1325880"/>
            <a:ext cx="128016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BB8E8"/>
                </a:solidFill>
                <a:latin typeface="Calibri"/>
              </a:defRPr>
            </a:pPr>
            <a:r>
              <a:t>Agent</a:t>
            </a:r>
            <a:br/>
            <a:r>
              <a:t>Engines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1737360"/>
            <a:ext cx="228600" cy="0"/>
          </a:xfrm>
          <a:prstGeom prst="line">
            <a:avLst/>
          </a:prstGeom>
          <a:ln w="22225">
            <a:solidFill>
              <a:srgbClr val="4EC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89320" y="1325880"/>
            <a:ext cx="128016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LLM</a:t>
            </a:r>
            <a:br/>
            <a:r>
              <a:t>Gemini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1737360"/>
            <a:ext cx="228600" cy="0"/>
          </a:xfrm>
          <a:prstGeom prst="line">
            <a:avLst/>
          </a:prstGeom>
          <a:ln w="22225">
            <a:solidFill>
              <a:srgbClr val="4EC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1325880"/>
            <a:ext cx="128016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6B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C49A"/>
                </a:solidFill>
                <a:latin typeface="Calibri"/>
              </a:defRPr>
            </a:pPr>
            <a:r>
              <a:t>UI</a:t>
            </a:r>
            <a:br/>
            <a:r>
              <a:t>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468880"/>
            <a:ext cx="6400800" cy="4572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A8296"/>
                </a:solidFill>
                <a:latin typeface="Calibri"/>
              </a:defRPr>
            </a:pPr>
            <a:r>
              <a:t>Optional FUTURE: RAG retrieve + social graph → inject into Context before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00400"/>
            <a:ext cx="1828800" cy="6858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56A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3200400"/>
            <a:ext cx="1828800" cy="6858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EC4B0"/>
                </a:solidFill>
                <a:latin typeface="Calibri"/>
              </a:defRPr>
            </a:pPr>
            <a:r>
              <a:t>Concepts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200400"/>
            <a:ext cx="1828800" cy="6858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7A6A"/>
                </a:solidFill>
                <a:latin typeface="Calibri"/>
              </a:defRPr>
            </a:pPr>
            <a:r>
              <a:t>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3200400"/>
            <a:ext cx="1828800" cy="6858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BB8E8"/>
                </a:solidFill>
                <a:latin typeface="Calibri"/>
              </a:defRPr>
            </a:pPr>
            <a:r>
              <a:t>Multi-FX Costs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24528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Pydantic validation guarantees typed TravelResponse for the UI.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00016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36008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Mock LLM path preserves demo if Gemini is unreachable — same JSON contract.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MVP choices — Gemini, multi-currency, agentic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2514600" cy="457200"/>
          </a:xfrm>
          <a:prstGeom prst="roundRect">
            <a:avLst/>
          </a:prstGeom>
          <a:solidFill>
            <a:srgbClr val="D4A56A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0E1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Python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Pydantic 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httpx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234440"/>
            <a:ext cx="2514600" cy="457200"/>
          </a:xfrm>
          <a:prstGeom prst="roundRect">
            <a:avLst/>
          </a:prstGeom>
          <a:solidFill>
            <a:srgbClr val="4EC4B0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0E1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8288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HTML5 / CSS3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2860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7432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Multi-currency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32004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Responsive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234440"/>
            <a:ext cx="2514600" cy="457200"/>
          </a:xfrm>
          <a:prstGeom prst="roundRect">
            <a:avLst/>
          </a:prstGeom>
          <a:solidFill>
            <a:srgbClr val="E87A6A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0E1A"/>
                </a:solidFill>
                <a:latin typeface="Calibri"/>
              </a:defRPr>
            </a:pPr>
            <a:r>
              <a:t>AI /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8288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Gemini 2.5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22860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Mock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7432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3 Ps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200400"/>
            <a:ext cx="2514600" cy="384048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AFAF8"/>
                </a:solidFill>
                <a:latin typeface="Calibri"/>
              </a:defRPr>
            </a:pPr>
            <a:r>
              <a:t>RAG hooks (future)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98848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34840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Environment-driven config via .env — provider, API keys, model, currency defaults.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65776"/>
            <a:ext cx="73152" cy="73152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01768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Modular agent design supports post-hackathon RAG, CV/voice emotion, maps, booking.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Live Demo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Recommended flow for judges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457200" cy="457200"/>
          </a:xfrm>
          <a:prstGeom prst="round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280160"/>
            <a:ext cx="36118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371600"/>
            <a:ext cx="3337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Launch App</a:t>
            </a:r>
          </a:p>
          <a:p>
            <a:pPr>
              <a:defRPr sz="1000" b="0">
                <a:solidFill>
                  <a:srgbClr val="B0B8C8"/>
                </a:solidFill>
                <a:latin typeface="Calibri"/>
              </a:defRPr>
            </a:pPr>
            <a:r>
              <a:t>Open web UI — emotion-first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280160"/>
            <a:ext cx="457200" cy="457200"/>
          </a:xfrm>
          <a:prstGeom prst="round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3533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59" y="1280160"/>
            <a:ext cx="36118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371600"/>
            <a:ext cx="3337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Enter Signals</a:t>
            </a:r>
          </a:p>
          <a:p>
            <a:pPr>
              <a:defRPr sz="1000" b="0">
                <a:solidFill>
                  <a:srgbClr val="B0B8C8"/>
                </a:solidFill>
                <a:latin typeface="Calibri"/>
              </a:defRPr>
            </a:pPr>
            <a:r>
              <a:t>Peaceful · Solo · USD/EUR/INR budget band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457200" cy="457200"/>
          </a:xfrm>
          <a:prstGeom prst="round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535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2880360"/>
            <a:ext cx="36118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971800"/>
            <a:ext cx="3337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Submit</a:t>
            </a:r>
          </a:p>
          <a:p>
            <a:pPr>
              <a:defRPr sz="1000" b="0">
                <a:solidFill>
                  <a:srgbClr val="B0B8C8"/>
                </a:solidFill>
                <a:latin typeface="Calibri"/>
              </a:defRPr>
            </a:pPr>
            <a:r>
              <a:t>Emotion + 3 Ps → TravelAgent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880360"/>
            <a:ext cx="457200" cy="457200"/>
          </a:xfrm>
          <a:prstGeom prst="round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9535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59" y="2880360"/>
            <a:ext cx="36118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971800"/>
            <a:ext cx="3337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Review Profile</a:t>
            </a:r>
          </a:p>
          <a:p>
            <a:pPr>
              <a:defRPr sz="1000" b="0">
                <a:solidFill>
                  <a:srgbClr val="B0B8C8"/>
                </a:solidFill>
                <a:latin typeface="Calibri"/>
              </a:defRPr>
            </a:pPr>
            <a:r>
              <a:t>Travel personality &amp; priorities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80560"/>
            <a:ext cx="457200" cy="457200"/>
          </a:xfrm>
          <a:prstGeom prst="round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537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4480560"/>
            <a:ext cx="36118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572000"/>
            <a:ext cx="3337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Explore Concepts</a:t>
            </a:r>
          </a:p>
          <a:p>
            <a:pPr>
              <a:defRPr sz="1000" b="0">
                <a:solidFill>
                  <a:srgbClr val="B0B8C8"/>
                </a:solidFill>
                <a:latin typeface="Calibri"/>
              </a:defRPr>
            </a:pPr>
            <a:r>
              <a:t>Match scores &amp; multi-currency costs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4480560"/>
            <a:ext cx="457200" cy="457200"/>
          </a:xfrm>
          <a:prstGeom prst="round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5537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59" y="4480560"/>
            <a:ext cx="36118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4572000"/>
            <a:ext cx="3337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Browse Board</a:t>
            </a:r>
          </a:p>
          <a:p>
            <a:pPr>
              <a:defRPr sz="1000" b="0">
                <a:solidFill>
                  <a:srgbClr val="B0B8C8"/>
                </a:solidFill>
                <a:latin typeface="Calibri"/>
              </a:defRPr>
            </a:pPr>
            <a:r>
              <a:t>Thematic clusters &amp; colour palettes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D4A56A"/>
                </a:solidFill>
                <a:latin typeface="Calibri Light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645920" cy="457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AF8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0B8C8"/>
                </a:solidFill>
                <a:latin typeface="Calibri Light"/>
              </a:defRPr>
            </a:pPr>
            <a:r>
              <a:t>Roadmap and closing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Post-Hackathon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Scaling the agentic stack beyond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813816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Phase 2</a:t>
            </a:r>
          </a:p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Multi-modal emotion — selfie CV expression + voice emotion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813816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EC4B0"/>
                </a:solidFill>
                <a:latin typeface="Calibri"/>
              </a:defRPr>
            </a:pPr>
            <a:r>
              <a:t>Phase 3</a:t>
            </a:r>
          </a:p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RAG over destination knowledge, reviews, culture &amp; seasonality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3200"/>
            <a:ext cx="813816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7A6A"/>
                </a:solidFill>
                <a:latin typeface="Calibri"/>
              </a:defRPr>
            </a:pPr>
            <a:r>
              <a:t>Phase 4</a:t>
            </a:r>
          </a:p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Social / friend-circle context feeding the 3 Ps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8138160" cy="6400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BB8E8"/>
                </a:solidFill>
                <a:latin typeface="Calibri"/>
              </a:defRPr>
            </a:pPr>
            <a:r>
              <a:t>Phase 5</a:t>
            </a:r>
          </a:p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Real-time pricing &amp; booking API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06240"/>
            <a:ext cx="8138160" cy="6400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9767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Phase 6</a:t>
            </a:r>
          </a:p>
          <a:p>
            <a:pPr>
              <a:defRPr sz="1100" b="0">
                <a:solidFill>
                  <a:srgbClr val="FAFAF8"/>
                </a:solidFill>
                <a:latin typeface="Calibri"/>
              </a:defRPr>
            </a:pPr>
            <a:r>
              <a:t>Maps, AI imagery, accounts, saved boards, mobile PWA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4EC4B0"/>
                </a:solidFill>
                <a:latin typeface="Calibri"/>
              </a:defRPr>
            </a:pPr>
            <a:r>
              <a:t>MVP validates the emotion→inspire hypothesis; roadmap scales context, RAG, and booking.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463040"/>
            <a:ext cx="6858000" cy="201168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56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AFAF8"/>
                </a:solidFill>
                <a:latin typeface="Calibri"/>
              </a:defRPr>
            </a:pPr>
            <a:r>
              <a:t>AI Travel Inspirator</a:t>
            </a:r>
          </a:p>
          <a:p>
            <a:pPr algn="ctr">
              <a:defRPr sz="1300" b="0">
                <a:solidFill>
                  <a:srgbClr val="B0B8C8"/>
                </a:solidFill>
                <a:latin typeface="Calibri"/>
              </a:defRPr>
            </a:pPr>
            <a:r>
              <a:t>Discover where your heart wants to go — anywhere in the world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794760"/>
            <a:ext cx="2743200" cy="457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EC4B0"/>
                </a:solidFill>
                <a:latin typeface="Calibri"/>
              </a:defRPr>
            </a:pPr>
            <a:r>
              <a:t>Team dot_thinker  ·  Coforge</a:t>
            </a:r>
          </a:p>
          <a:p>
            <a:pPr algn="ctr">
              <a:defRPr sz="1200" b="0">
                <a:solidFill>
                  <a:srgbClr val="7A8296"/>
                </a:solidFill>
                <a:latin typeface="Calibri"/>
              </a:defRPr>
            </a:pPr>
            <a:r>
              <a:t>GitHub: AviCoooool/AITravel</a:t>
            </a:r>
          </a:p>
          <a:p>
            <a:pPr algn="ctr">
              <a:defRPr sz="1200" b="0">
                <a:solidFill>
                  <a:srgbClr val="7A8296"/>
                </a:solidFill>
                <a:latin typeface="Calibri"/>
              </a:defRPr>
            </a:pPr>
            <a:r>
              <a:t>Demo: http://localhost:8002</a:t>
            </a:r>
          </a:p>
          <a:p>
            <a:pPr algn="ctr">
              <a:defRPr sz="1200" b="0">
                <a:solidFill>
                  <a:srgbClr val="7A8296"/>
                </a:solidFill>
                <a:latin typeface="Calibri"/>
              </a:defRPr>
            </a:pPr>
            <a:r>
              <a:t>We welcome your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