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65760"/>
            <a:ext cx="2286000" cy="347472"/>
          </a:xfrm>
          <a:prstGeom prst="roundRect">
            <a:avLst/>
          </a:prstGeom>
          <a:solidFill>
            <a:srgbClr val="12182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EC4B0"/>
                </a:solidFill>
                <a:latin typeface="Calibri"/>
              </a:defRPr>
            </a:pPr>
            <a:r>
              <a:t>3–4 MIN PITCH  · 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4114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7A8296"/>
                </a:solidFill>
                <a:latin typeface="Calibri"/>
              </a:defRPr>
            </a:pPr>
            <a:r>
              <a:t>Coforge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D4A56A"/>
                </a:solidFill>
                <a:latin typeface="Calibri"/>
              </a:defRPr>
            </a:pPr>
            <a:r>
              <a:t>AI Travel Inspirator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AFAF8"/>
                </a:solidFill>
                <a:latin typeface="Calibri Light"/>
              </a:defRPr>
            </a:pPr>
            <a:r>
              <a:t>Emotion-first travel discovery — between Instagram &amp; Booking.com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201168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B0B8C8"/>
                </a:solidFill>
                <a:latin typeface="Calibri Light"/>
              </a:defRPr>
            </a:pPr>
            <a:r>
              <a:t>We help undecided travelers find places that match how they feel —</a:t>
            </a:r>
            <a:br/>
            <a:r>
              <a:t>with Profile · Preferences · Policy context and explainable inspiration boards.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83280"/>
            <a:ext cx="8138160" cy="182880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EC4B0"/>
                </a:solidFill>
                <a:latin typeface="Calibri"/>
              </a:defRPr>
            </a:pPr>
            <a:r>
              <a:t>Team dot_thinker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FAF8"/>
                </a:solidFill>
                <a:latin typeface="Calibri"/>
              </a:defRPr>
            </a:pPr>
            <a:r>
              <a:t>Priyanka Singh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D4A56A"/>
                </a:solidFill>
                <a:latin typeface="Calibri"/>
              </a:defRPr>
            </a:pPr>
            <a:r>
              <a:t>Emp 94872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177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Priyanka.4.S@coforge.com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7763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FAF8"/>
                </a:solidFill>
                <a:latin typeface="Calibri"/>
              </a:defRPr>
            </a:pPr>
            <a:r>
              <a:t>Avinash Tripathi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297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4EC4B0"/>
                </a:solidFill>
                <a:latin typeface="Calibri"/>
              </a:defRPr>
            </a:pPr>
            <a:r>
              <a:t>Emp 76765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177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avinash.tripathi@coforge.com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486400"/>
            <a:ext cx="1965960" cy="3657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Multi-modal emotion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39" y="5486400"/>
            <a:ext cx="1965960" cy="3657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3 Ps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59" y="5486400"/>
            <a:ext cx="1965960" cy="3657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Quasar GPT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79" y="5486400"/>
            <a:ext cx="1965960" cy="36576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56A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PITCH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E8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Travelers feel lost between social inspiration and booking engines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34440"/>
            <a:ext cx="42976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6A"/>
                </a:solidFill>
                <a:latin typeface="Calibri"/>
              </a:defRPr>
            </a:pPr>
            <a:r>
              <a:t>Decision paralysis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0B8C8"/>
                </a:solidFill>
                <a:latin typeface="Calibri"/>
              </a:defRPr>
            </a:pPr>
            <a:r>
              <a:t>Endless options, no personal guide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40280"/>
            <a:ext cx="42976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6A"/>
                </a:solidFill>
                <a:latin typeface="Calibri"/>
              </a:defRPr>
            </a:pPr>
            <a:r>
              <a:t>Popularity ≠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0B8C8"/>
                </a:solidFill>
                <a:latin typeface="Calibri"/>
              </a:defRPr>
            </a:pPr>
            <a:r>
              <a:t>Trending places ignore mood &amp; personality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46120"/>
            <a:ext cx="42976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832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6A"/>
                </a:solidFill>
                <a:latin typeface="Calibri"/>
              </a:defRPr>
            </a:pPr>
            <a:r>
              <a:t>Emotion ignored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033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0B8C8"/>
                </a:solidFill>
                <a:latin typeface="Calibri"/>
              </a:defRPr>
            </a:pPr>
            <a:r>
              <a:t>OTAs optimise price — not how you feel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251960"/>
            <a:ext cx="4297680" cy="86868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8912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6A"/>
                </a:solidFill>
                <a:latin typeface="Calibri"/>
              </a:defRPr>
            </a:pPr>
            <a:r>
              <a:t>Context missing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091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0B8C8"/>
                </a:solidFill>
                <a:latin typeface="Calibri"/>
              </a:defRPr>
            </a:pPr>
            <a:r>
              <a:t>No Profile · Preferences · Policy bridge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1234440"/>
            <a:ext cx="3794760" cy="39319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14173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56A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965960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▸  Global OTA + leisure travel is huge — yet discovery is still price/list driven.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43200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▸  Social inspires; booking sites transact — nothing owns the emotional middle.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520440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▸  Multi-currency travelers (INR · USD · EUR…) need local-aware guidance.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297680"/>
            <a:ext cx="3474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▸  Enterprise angle: Quasar-governed LLM + explainable recommendations.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4068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E87A6A"/>
                </a:solidFill>
                <a:latin typeface="Calibri"/>
              </a:defRPr>
            </a:pPr>
            <a:r>
              <a:t>Insight: We are the recommendation partner between Instagram and Booking.com.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4EC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Sense → Context (3 Ps) → Reason → Inspire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34440"/>
            <a:ext cx="2011680" cy="16916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A56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1737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AF8"/>
                </a:solidFill>
                <a:latin typeface="Calibri"/>
              </a:defRPr>
            </a:pPr>
            <a:r>
              <a:t>Sense</a:t>
            </a:r>
          </a:p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Mood · selfie CV</a:t>
            </a:r>
            <a:br/>
            <a:r>
              <a:t>voice · 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011680"/>
            <a:ext cx="228600" cy="0"/>
          </a:xfrm>
          <a:prstGeom prst="line">
            <a:avLst/>
          </a:prstGeom>
          <a:ln w="22225">
            <a:solidFill>
              <a:srgbClr val="D4A5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06040" y="1234440"/>
            <a:ext cx="2011680" cy="16916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325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EC4B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37360"/>
            <a:ext cx="1737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AF8"/>
                </a:solidFill>
                <a:latin typeface="Calibri"/>
              </a:defRPr>
            </a:pPr>
            <a:r>
              <a:t>Context</a:t>
            </a:r>
          </a:p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Profile · Prefs</a:t>
            </a:r>
            <a:br/>
            <a:r>
              <a:t>Policy (3 Ps)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2011680"/>
            <a:ext cx="228600" cy="0"/>
          </a:xfrm>
          <a:prstGeom prst="line">
            <a:avLst/>
          </a:prstGeom>
          <a:ln w="22225">
            <a:solidFill>
              <a:srgbClr val="4EC4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00600" y="1234440"/>
            <a:ext cx="2011680" cy="16916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325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87A6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737360"/>
            <a:ext cx="1737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AF8"/>
                </a:solidFill>
                <a:latin typeface="Calibri"/>
              </a:defRPr>
            </a:pPr>
            <a:r>
              <a:t>Reason</a:t>
            </a:r>
          </a:p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TravelAgent +</a:t>
            </a:r>
            <a:br/>
            <a:r>
              <a:t>Quasar GPT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2011680"/>
            <a:ext cx="228600" cy="0"/>
          </a:xfrm>
          <a:prstGeom prst="line">
            <a:avLst/>
          </a:prstGeom>
          <a:ln w="22225">
            <a:solidFill>
              <a:srgbClr val="E87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95160" y="1234440"/>
            <a:ext cx="2011680" cy="16916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7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3258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BB8E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737360"/>
            <a:ext cx="1737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AFAF8"/>
                </a:solidFill>
                <a:latin typeface="Calibri"/>
              </a:defRPr>
            </a:pPr>
            <a:r>
              <a:t>Inspire</a:t>
            </a:r>
          </a:p>
          <a:p>
            <a:pPr algn="ctr">
              <a:defRPr sz="1100" b="0">
                <a:solidFill>
                  <a:srgbClr val="B0B8C8"/>
                </a:solidFill>
                <a:latin typeface="Calibri"/>
              </a:defRPr>
            </a:pPr>
            <a:r>
              <a:t>Boards · scores</a:t>
            </a:r>
            <a:br/>
            <a:r>
              <a:t>photos · costs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154680"/>
            <a:ext cx="8321040" cy="260604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29184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EC4B0"/>
                </a:solidFill>
                <a:latin typeface="Calibri"/>
              </a:defRPr>
            </a:pPr>
            <a:r>
              <a:t>Hackathon MVP — live today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49039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4A56A"/>
                </a:solidFill>
                <a:latin typeface="Calibri"/>
              </a:defRPr>
            </a:pPr>
            <a:r>
              <a:t>Emotion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069080"/>
            <a:ext cx="1920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Mood chips + on-device selfie CV → maps expression to mood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749039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EC4B0"/>
                </a:solidFill>
                <a:latin typeface="Calibri"/>
              </a:defRPr>
            </a:pPr>
            <a:r>
              <a:t>3 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069080"/>
            <a:ext cx="1920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Home base, interests, visa/policy — fused into every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3749039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7A6A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069080"/>
            <a:ext cx="1920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Emotional engine · matcher · clusters → Quasar GPT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749039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BB8E8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069080"/>
            <a:ext cx="1920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Boards + costs; wait for GPT scene photos, then reveal together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44652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9144000" cy="36576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D4A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AFAF8"/>
                </a:solidFill>
                <a:latin typeface="Calibri"/>
              </a:defRPr>
            </a:pPr>
            <a:r>
              <a:t>Live Demo &amp;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0B8C8"/>
                </a:solidFill>
                <a:latin typeface="Calibri Light"/>
              </a:defRPr>
            </a:pPr>
            <a:r>
              <a:t>What you will see · stack · 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34440"/>
            <a:ext cx="2011680" cy="14173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3258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691640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AFAF8"/>
                </a:solidFill>
                <a:latin typeface="Calibri"/>
              </a:defRPr>
            </a:pPr>
            <a:r>
              <a:t>Feel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Pick mood or upload selfie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234440"/>
            <a:ext cx="2011680" cy="14173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13258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1691640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AFAF8"/>
                </a:solidFill>
                <a:latin typeface="Calibri"/>
              </a:defRPr>
            </a:pPr>
            <a:r>
              <a:t>Context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Set currency, 3 Ps, intent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1234440"/>
            <a:ext cx="2011680" cy="14173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3258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691640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AFAF8"/>
                </a:solidFill>
                <a:latin typeface="Calibri"/>
              </a:defRPr>
            </a:pPr>
            <a:r>
              <a:t>Inspire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Watch Quasar craft boards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234440"/>
            <a:ext cx="2011680" cy="1417320"/>
          </a:xfrm>
          <a:prstGeom prst="roundRect">
            <a:avLst/>
          </a:prstGeom>
          <a:solidFill>
            <a:srgbClr val="1C2438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13258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56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1691640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AFAF8"/>
                </a:solidFill>
                <a:latin typeface="Calibri"/>
              </a:defRPr>
            </a:pPr>
            <a:r>
              <a:t>See</a:t>
            </a:r>
          </a:p>
          <a:p>
            <a:pPr>
              <a:defRPr sz="1100" b="0">
                <a:solidFill>
                  <a:srgbClr val="B0B8C8"/>
                </a:solidFill>
                <a:latin typeface="Calibri"/>
              </a:defRPr>
            </a:pPr>
            <a:r>
              <a:t>Destinations + realtime photos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880360"/>
            <a:ext cx="4023360" cy="23317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4EC4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EC4B0"/>
                </a:solidFill>
                <a:latin typeface="Calibri"/>
              </a:defRPr>
            </a:pPr>
            <a:r>
              <a:t>Built with</a:t>
            </a:r>
          </a:p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•  FastAPI · Docker · Quasar GPT</a:t>
            </a:r>
          </a:p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•  Emotion engines + TravelAgent</a:t>
            </a:r>
          </a:p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•  Selfie CV (on-device) · multi-currency</a:t>
            </a:r>
          </a:p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•  India-first when INR / home = India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2880360"/>
            <a:ext cx="4023360" cy="233172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E87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30175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7A6A"/>
                </a:solidFill>
                <a:latin typeface="Calibri"/>
              </a:defRPr>
            </a:pPr>
            <a:r>
              <a:t>Next</a:t>
            </a:r>
          </a:p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•  RAG destination knowledge</a:t>
            </a:r>
          </a:p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•  Live voice emotion</a:t>
            </a:r>
          </a:p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•  Social / friend graph cues</a:t>
            </a:r>
          </a:p>
          <a:p>
            <a:pPr>
              <a:defRPr sz="1200" b="0">
                <a:solidFill>
                  <a:srgbClr val="FAFAF8"/>
                </a:solidFill>
                <a:latin typeface="Calibri"/>
              </a:defRPr>
            </a:pPr>
            <a:r>
              <a:t>•  OTA handoff for booking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40680"/>
            <a:ext cx="8229600" cy="685800"/>
          </a:xfrm>
          <a:prstGeom prst="roundRect">
            <a:avLst/>
          </a:prstGeom>
          <a:solidFill>
            <a:srgbClr val="242E45"/>
          </a:solidFill>
          <a:ln w="9525">
            <a:solidFill>
              <a:srgbClr val="D4A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D4A56A"/>
                </a:solidFill>
                <a:latin typeface="Calibri"/>
              </a:defRPr>
            </a:pPr>
            <a:r>
              <a:t>Thank you — Team dot_thinker  ·  Demo: localhost:8000  ·  Questions welcome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9144000" cy="292608"/>
          </a:xfrm>
          <a:prstGeom prst="rect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A8296"/>
                </a:solidFill>
                <a:latin typeface="Calibri"/>
              </a:defRPr>
            </a:pPr>
            <a:r>
              <a:t>dot_thinker  ·  Coforge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47395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B0B8C8"/>
                </a:solidFill>
                <a:latin typeface="Calibri"/>
              </a:defRPr>
            </a:pPr>
            <a:r>
              <a:t>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473952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56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